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20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diapositiva con todo el proyecto Paperdrop for Ninox. Fases 1 a 4 terminadas (Discover, Define, Specify, Plan). Fase 5 en curso: MVP del 28 de septiembre al 23 de octubre de 2026. R1 (v1.0 Android pública) y R2 (iOS y difusión) se fecharán con los datos de tiempo y coste que recoge el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NORTEX SYSTEMS · CASO REAL · SEPTIEMBRE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7548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Paperdrop for Ninox: de la idea a las tiendas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784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construimos una app Android/iOS con un equipo de IA multimodelo, dirigido por especificaciones y con una persona que decide.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62495" y="274320"/>
            <a:ext cx="1097280" cy="1078992"/>
          </a:xfrm>
          <a:prstGeom prst="roundRect">
            <a:avLst>
              <a:gd name="adj" fmla="val 6780"/>
            </a:avLst>
          </a:prstGeom>
          <a:solidFill>
            <a:srgbClr val="16363B"/>
          </a:solidFill>
          <a:ln w="1270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7235647" y="329184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235647" y="74980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reales probados de extremo a extremo en Ninox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351215" y="274320"/>
            <a:ext cx="1097280" cy="1078992"/>
          </a:xfrm>
          <a:prstGeom prst="roundRect">
            <a:avLst>
              <a:gd name="adj" fmla="val 6780"/>
            </a:avLst>
          </a:prstGeom>
          <a:solidFill>
            <a:srgbClr val="16363B"/>
          </a:solidFill>
          <a:ln w="1270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8424367" y="329184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424367" y="74980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trazados, con 304 escenarios de aceptación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539935" y="274320"/>
            <a:ext cx="1097280" cy="1078992"/>
          </a:xfrm>
          <a:prstGeom prst="roundRect">
            <a:avLst>
              <a:gd name="adj" fmla="val 6780"/>
            </a:avLst>
          </a:prstGeom>
          <a:solidFill>
            <a:srgbClr val="16363B"/>
          </a:solidFill>
          <a:ln w="1270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9613087" y="329184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613087" y="74980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y una persona que aprueba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728655" y="274320"/>
            <a:ext cx="1097280" cy="1078992"/>
          </a:xfrm>
          <a:prstGeom prst="roundRect">
            <a:avLst>
              <a:gd name="adj" fmla="val 6780"/>
            </a:avLst>
          </a:prstGeom>
          <a:solidFill>
            <a:srgbClr val="16363B"/>
          </a:solidFill>
          <a:ln w="1270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10801807" y="329184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11→4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801807" y="749808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hasta el MVP, al replanificar con el equipo de agentes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463040"/>
            <a:ext cx="11460175" cy="384048"/>
          </a:xfrm>
          <a:prstGeom prst="roundRect">
            <a:avLst>
              <a:gd name="adj" fmla="val 14286"/>
            </a:avLst>
          </a:prstGeom>
          <a:solidFill>
            <a:srgbClr val="1B4147"/>
          </a:solidFill>
          <a:ln w="12700">
            <a:solidFill>
              <a:srgbClr val="1B41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502920" y="146304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un ticket o PDF de una factura  →  lectura en el propio móvil  →  validación determinista (dígitos de control, aritmética entre importes leídos, tipos de IVA legales)  →  un registro en la base Ninox del usuario, con el original adjunto.  </a:t>
            </a:r>
            <a:r>
              <a:rPr lang="en-US" sz="1000" b="1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Gratis, open source y sin servidor.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37318" y="2103120"/>
            <a:ext cx="9917060" cy="0"/>
          </a:xfrm>
          <a:prstGeom prst="line">
            <a:avLst/>
          </a:prstGeom>
          <a:noFill/>
          <a:ln w="25400">
            <a:solidFill>
              <a:srgbClr val="2E5A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63582" y="1929384"/>
            <a:ext cx="347472" cy="347472"/>
          </a:xfrm>
          <a:prstGeom prst="ellipse">
            <a:avLst/>
          </a:prstGeom>
          <a:solidFill>
            <a:srgbClr val="5FD3B3"/>
          </a:solidFill>
          <a:ln w="1905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 txBox="1"/>
          <p:nvPr/>
        </p:nvSpPr>
        <p:spPr>
          <a:xfrm>
            <a:off x="963582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1543115" cy="2697480"/>
          </a:xfrm>
          <a:prstGeom prst="roundRect">
            <a:avLst>
              <a:gd name="adj" fmla="val 4148"/>
            </a:avLst>
          </a:prstGeom>
          <a:solidFill>
            <a:srgbClr val="16363B"/>
          </a:solidFill>
          <a:ln w="635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 txBox="1"/>
          <p:nvPr/>
        </p:nvSpPr>
        <p:spPr>
          <a:xfrm>
            <a:off x="457200" y="2404872"/>
            <a:ext cx="1360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679192"/>
            <a:ext cx="1360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· 19–22 SEP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20624" y="2898648"/>
            <a:ext cx="1415099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y problema: gastos con tarjeta que nunca llegan al ERP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y 19 ADR (decisiones de arquitectura)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cruzada entre modelos: 17 hallazgos, 3 cambian el producto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real de extremo a extremo: 16 documentos, registro y adjunto en Ninox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00016"/>
            <a:ext cx="136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 · Sonnet 5 · DeepSeek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16425" y="1929384"/>
            <a:ext cx="347472" cy="347472"/>
          </a:xfrm>
          <a:prstGeom prst="ellipse">
            <a:avLst/>
          </a:prstGeom>
          <a:solidFill>
            <a:srgbClr val="5FD3B3"/>
          </a:solidFill>
          <a:ln w="1905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 txBox="1"/>
          <p:nvPr/>
        </p:nvSpPr>
        <p:spPr>
          <a:xfrm>
            <a:off x="2616425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18603" y="2331720"/>
            <a:ext cx="1543115" cy="2697480"/>
          </a:xfrm>
          <a:prstGeom prst="roundRect">
            <a:avLst>
              <a:gd name="adj" fmla="val 4148"/>
            </a:avLst>
          </a:prstGeom>
          <a:solidFill>
            <a:srgbClr val="16363B"/>
          </a:solidFill>
          <a:ln w="635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2110043" y="2404872"/>
            <a:ext cx="1360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110043" y="2679192"/>
            <a:ext cx="1360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· 23 SEP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2073467" y="2898648"/>
            <a:ext cx="1415099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v1.0 al estilo consultoría clásica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requisitos funcionales, 22 reglas de negocio, 18 no funcionales, 15 casos de uso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error de la prueba real se convierte en una regla: «mejor vacío que falso»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2110043" y="4700016"/>
            <a:ext cx="136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5.3 (índice) · Atria Dawn (redacción)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69268" y="1929384"/>
            <a:ext cx="347472" cy="347472"/>
          </a:xfrm>
          <a:prstGeom prst="ellipse">
            <a:avLst/>
          </a:prstGeom>
          <a:solidFill>
            <a:srgbClr val="5FD3B3"/>
          </a:solidFill>
          <a:ln w="1905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 txBox="1"/>
          <p:nvPr/>
        </p:nvSpPr>
        <p:spPr>
          <a:xfrm>
            <a:off x="4269268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71447" y="2331720"/>
            <a:ext cx="1543115" cy="2697480"/>
          </a:xfrm>
          <a:prstGeom prst="roundRect">
            <a:avLst>
              <a:gd name="adj" fmla="val 4148"/>
            </a:avLst>
          </a:prstGeom>
          <a:solidFill>
            <a:srgbClr val="16363B"/>
          </a:solidFill>
          <a:ln w="635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 txBox="1"/>
          <p:nvPr/>
        </p:nvSpPr>
        <p:spPr>
          <a:xfrm>
            <a:off x="3762887" y="2404872"/>
            <a:ext cx="1360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762887" y="2679192"/>
            <a:ext cx="1360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· 23 SEP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3726311" y="2898648"/>
            <a:ext cx="1415099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OpenSpec: 12 capacidades, 124 requisitos, 304 escenarios GIVEN / WHEN / THEN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cita su origen: trazabilidad completa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vivos de huecos (25) y de decisiones (11)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estricta en verde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3762887" y="4700016"/>
            <a:ext cx="136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 Flash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22112" y="1929384"/>
            <a:ext cx="347472" cy="347472"/>
          </a:xfrm>
          <a:prstGeom prst="ellipse">
            <a:avLst/>
          </a:prstGeom>
          <a:solidFill>
            <a:srgbClr val="5FD3B3"/>
          </a:solidFill>
          <a:ln w="1905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 txBox="1"/>
          <p:nvPr/>
        </p:nvSpPr>
        <p:spPr>
          <a:xfrm>
            <a:off x="5922112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24290" y="2331720"/>
            <a:ext cx="1543115" cy="2697480"/>
          </a:xfrm>
          <a:prstGeom prst="roundRect">
            <a:avLst>
              <a:gd name="adj" fmla="val 4148"/>
            </a:avLst>
          </a:prstGeom>
          <a:solidFill>
            <a:srgbClr val="16363B"/>
          </a:solidFill>
          <a:ln w="635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 txBox="1"/>
          <p:nvPr/>
        </p:nvSpPr>
        <p:spPr>
          <a:xfrm>
            <a:off x="5415730" y="2404872"/>
            <a:ext cx="1360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5415730" y="2679192"/>
            <a:ext cx="1360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· 24–25 SEP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379154" y="2898648"/>
            <a:ext cx="1415099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como corte de la v1: todo el código es definitivo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antes de afirmar: una lectura de 2.143 campos resolvió un bloqueo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agentes con modelo y skills por rol, probado con tests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en 4 semanas con hitos, tareas de un día y fechas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415730" y="4700016"/>
            <a:ext cx="136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5F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574955" y="1929384"/>
            <a:ext cx="347472" cy="347472"/>
          </a:xfrm>
          <a:prstGeom prst="ellipse">
            <a:avLst/>
          </a:prstGeom>
          <a:solidFill>
            <a:srgbClr val="F4B942"/>
          </a:solidFill>
          <a:ln w="190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 txBox="1"/>
          <p:nvPr/>
        </p:nvSpPr>
        <p:spPr>
          <a:xfrm>
            <a:off x="7574955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77133" y="2331720"/>
            <a:ext cx="1543115" cy="2697480"/>
          </a:xfrm>
          <a:prstGeom prst="roundRect">
            <a:avLst>
              <a:gd name="adj" fmla="val 4148"/>
            </a:avLst>
          </a:prstGeom>
          <a:solidFill>
            <a:srgbClr val="243F2E"/>
          </a:solidFill>
          <a:ln w="15875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 txBox="1"/>
          <p:nvPr/>
        </p:nvSpPr>
        <p:spPr>
          <a:xfrm>
            <a:off x="7068573" y="2404872"/>
            <a:ext cx="1360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7068573" y="2679192"/>
            <a:ext cx="1360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 → 23 OCT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031997" y="2898648"/>
            <a:ext cx="1415099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· cimientos y CI (28–29 sep)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núcleo, Ninox y móvil en paralelo (30 sep–9 oct)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alfa en el móvil (16 oct)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validación con usuarios (19–23 oct)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España y Alemania · foto y PDF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producto, tiempo y coste para estimar R1 y R2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7068573" y="4700016"/>
            <a:ext cx="136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completo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227798" y="1929384"/>
            <a:ext cx="347472" cy="347472"/>
          </a:xfrm>
          <a:prstGeom prst="ellipse">
            <a:avLst/>
          </a:prstGeom>
          <a:solidFill>
            <a:srgbClr val="0E2327"/>
          </a:solidFill>
          <a:ln w="19050">
            <a:solidFill>
              <a:srgbClr val="8DAD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 txBox="1"/>
          <p:nvPr/>
        </p:nvSpPr>
        <p:spPr>
          <a:xfrm>
            <a:off x="9227798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629977" y="2331720"/>
            <a:ext cx="1543115" cy="2697480"/>
          </a:xfrm>
          <a:prstGeom prst="roundRect">
            <a:avLst>
              <a:gd name="adj" fmla="val 4148"/>
            </a:avLst>
          </a:prstGeom>
          <a:solidFill>
            <a:srgbClr val="16363B"/>
          </a:solidFill>
          <a:ln w="635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 txBox="1"/>
          <p:nvPr/>
        </p:nvSpPr>
        <p:spPr>
          <a:xfrm>
            <a:off x="8721417" y="2404872"/>
            <a:ext cx="1360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v1.0 Android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8721417" y="2679192"/>
            <a:ext cx="1360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FECHA CON EL MVP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8684841" y="2898648"/>
            <a:ext cx="1415099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electrónica (ZUGFeRD, XRechnung), PDF escaneado y correos .msg/.eml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 y Suiza; interfaz en alemán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proveedores, corrección y reenvío, exportar configuración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Google Play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8721417" y="4700016"/>
            <a:ext cx="136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equipo, mismo método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880642" y="1929384"/>
            <a:ext cx="347472" cy="347472"/>
          </a:xfrm>
          <a:prstGeom prst="ellipse">
            <a:avLst/>
          </a:prstGeom>
          <a:solidFill>
            <a:srgbClr val="0E2327"/>
          </a:solidFill>
          <a:ln w="19050">
            <a:solidFill>
              <a:srgbClr val="8DADA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 txBox="1"/>
          <p:nvPr/>
        </p:nvSpPr>
        <p:spPr>
          <a:xfrm>
            <a:off x="10880642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0282820" y="2331720"/>
            <a:ext cx="1543115" cy="2697480"/>
          </a:xfrm>
          <a:prstGeom prst="roundRect">
            <a:avLst>
              <a:gd name="adj" fmla="val 4148"/>
            </a:avLst>
          </a:prstGeom>
          <a:solidFill>
            <a:srgbClr val="16363B"/>
          </a:solidFill>
          <a:ln w="635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 txBox="1"/>
          <p:nvPr/>
        </p:nvSpPr>
        <p:spPr>
          <a:xfrm>
            <a:off x="10374260" y="2404872"/>
            <a:ext cx="1360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iOS y difusión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10374260" y="2679192"/>
            <a:ext cx="13602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FECHA CON EL MVP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10337684" y="2898648"/>
            <a:ext cx="1415099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app en iOS: escáner VisionKit, OCR Vision y extensión de compartir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App Store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la comunidad Ninox (nube privada)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publicado en la web de Nortex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10374260" y="4700016"/>
            <a:ext cx="1360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equipo, mismo método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5175504"/>
            <a:ext cx="6949440" cy="1298448"/>
          </a:xfrm>
          <a:prstGeom prst="roundRect">
            <a:avLst>
              <a:gd name="adj" fmla="val 4930"/>
            </a:avLst>
          </a:prstGeom>
          <a:solidFill>
            <a:srgbClr val="16363B"/>
          </a:solidFill>
          <a:ln w="1270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 txBox="1"/>
          <p:nvPr/>
        </p:nvSpPr>
        <p:spPr>
          <a:xfrm>
            <a:off x="502920" y="5248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02920" y="5532120"/>
            <a:ext cx="310896" cy="310896"/>
          </a:xfrm>
          <a:prstGeom prst="ellipse">
            <a:avLst/>
          </a:prstGeom>
          <a:solidFill>
            <a:srgbClr val="1B4147"/>
          </a:solidFill>
          <a:ln w="1270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5609844"/>
            <a:ext cx="155448" cy="155448"/>
          </a:xfrm>
          <a:prstGeom prst="rect">
            <a:avLst/>
          </a:prstGeom>
        </p:spPr>
      </p:pic>
      <p:sp>
        <p:nvSpPr>
          <p:cNvPr id="73" name="Text 70"/>
          <p:cNvSpPr txBox="1"/>
          <p:nvPr/>
        </p:nvSpPr>
        <p:spPr>
          <a:xfrm>
            <a:off x="886968" y="5504688"/>
            <a:ext cx="1731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antes de programar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886968" y="5687568"/>
            <a:ext cx="173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OpenSpec: nada se construye sin un requisito con origen y escenario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2773680" y="5532120"/>
            <a:ext cx="310896" cy="310896"/>
          </a:xfrm>
          <a:prstGeom prst="ellipse">
            <a:avLst/>
          </a:prstGeom>
          <a:solidFill>
            <a:srgbClr val="1B4147"/>
          </a:solidFill>
          <a:ln w="1270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404" y="5609844"/>
            <a:ext cx="155448" cy="155448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3157728" y="5504688"/>
            <a:ext cx="1731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antes de afirmar</a:t>
            </a:r>
            <a:endParaRPr lang="en-US" sz="900" dirty="0"/>
          </a:p>
        </p:txBody>
      </p:sp>
      <p:sp>
        <p:nvSpPr>
          <p:cNvPr id="78" name="Text 74"/>
          <p:cNvSpPr txBox="1"/>
          <p:nvPr/>
        </p:nvSpPr>
        <p:spPr>
          <a:xfrm>
            <a:off x="3157728" y="5687568"/>
            <a:ext cx="173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lecturas reales antes de decidir; nunca de memoria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5044440" y="5532120"/>
            <a:ext cx="310896" cy="310896"/>
          </a:xfrm>
          <a:prstGeom prst="ellipse">
            <a:avLst/>
          </a:prstGeom>
          <a:solidFill>
            <a:srgbClr val="1B4147"/>
          </a:solidFill>
          <a:ln w="1270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164" y="5609844"/>
            <a:ext cx="155448" cy="155448"/>
          </a:xfrm>
          <a:prstGeom prst="rect">
            <a:avLst/>
          </a:prstGeom>
        </p:spPr>
      </p:pic>
      <p:sp>
        <p:nvSpPr>
          <p:cNvPr id="81" name="Text 76"/>
          <p:cNvSpPr txBox="1"/>
          <p:nvPr/>
        </p:nvSpPr>
        <p:spPr>
          <a:xfrm>
            <a:off x="5428488" y="5504688"/>
            <a:ext cx="1731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vacío que falso</a:t>
            </a:r>
            <a:endParaRPr lang="en-US" sz="900" dirty="0"/>
          </a:p>
        </p:txBody>
      </p:sp>
      <p:sp>
        <p:nvSpPr>
          <p:cNvPr id="82" name="Text 77"/>
          <p:cNvSpPr txBox="1"/>
          <p:nvPr/>
        </p:nvSpPr>
        <p:spPr>
          <a:xfrm>
            <a:off x="5428488" y="5687568"/>
            <a:ext cx="173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que no se puede sostener no se escribe</a:t>
            </a:r>
            <a:endParaRPr lang="en-US" sz="750" dirty="0"/>
          </a:p>
        </p:txBody>
      </p:sp>
      <p:sp>
        <p:nvSpPr>
          <p:cNvPr id="83" name="Shape 78"/>
          <p:cNvSpPr/>
          <p:nvPr/>
        </p:nvSpPr>
        <p:spPr>
          <a:xfrm>
            <a:off x="502920" y="6025896"/>
            <a:ext cx="310896" cy="310896"/>
          </a:xfrm>
          <a:prstGeom prst="ellipse">
            <a:avLst/>
          </a:prstGeom>
          <a:solidFill>
            <a:srgbClr val="1B4147"/>
          </a:solidFill>
          <a:ln w="1270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" y="6103620"/>
            <a:ext cx="155448" cy="155448"/>
          </a:xfrm>
          <a:prstGeom prst="rect">
            <a:avLst/>
          </a:prstGeom>
        </p:spPr>
      </p:pic>
      <p:sp>
        <p:nvSpPr>
          <p:cNvPr id="85" name="Text 79"/>
          <p:cNvSpPr txBox="1"/>
          <p:nvPr/>
        </p:nvSpPr>
        <p:spPr>
          <a:xfrm>
            <a:off x="886968" y="5998464"/>
            <a:ext cx="1731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multimodelo con revisión cruzada</a:t>
            </a:r>
            <a:endParaRPr lang="en-US" sz="900" dirty="0"/>
          </a:p>
        </p:txBody>
      </p:sp>
      <p:sp>
        <p:nvSpPr>
          <p:cNvPr id="86" name="Text 80"/>
          <p:cNvSpPr txBox="1"/>
          <p:nvPr/>
        </p:nvSpPr>
        <p:spPr>
          <a:xfrm>
            <a:off x="886968" y="6181344"/>
            <a:ext cx="173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en su rol; QA es de una familia distinta a quien programa</a:t>
            </a:r>
            <a:endParaRPr lang="en-US" sz="750" dirty="0"/>
          </a:p>
        </p:txBody>
      </p:sp>
      <p:sp>
        <p:nvSpPr>
          <p:cNvPr id="87" name="Shape 81"/>
          <p:cNvSpPr/>
          <p:nvPr/>
        </p:nvSpPr>
        <p:spPr>
          <a:xfrm>
            <a:off x="2773680" y="6025896"/>
            <a:ext cx="310896" cy="310896"/>
          </a:xfrm>
          <a:prstGeom prst="ellipse">
            <a:avLst/>
          </a:prstGeom>
          <a:solidFill>
            <a:srgbClr val="1B4147"/>
          </a:solidFill>
          <a:ln w="1270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1404" y="6103620"/>
            <a:ext cx="155448" cy="155448"/>
          </a:xfrm>
          <a:prstGeom prst="rect">
            <a:avLst/>
          </a:prstGeom>
        </p:spPr>
      </p:pic>
      <p:sp>
        <p:nvSpPr>
          <p:cNvPr id="89" name="Text 82"/>
          <p:cNvSpPr txBox="1"/>
          <p:nvPr/>
        </p:nvSpPr>
        <p:spPr>
          <a:xfrm>
            <a:off x="3157728" y="5998464"/>
            <a:ext cx="1731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decide</a:t>
            </a:r>
            <a:endParaRPr lang="en-US" sz="900" dirty="0"/>
          </a:p>
        </p:txBody>
      </p:sp>
      <p:sp>
        <p:nvSpPr>
          <p:cNvPr id="90" name="Text 83"/>
          <p:cNvSpPr txBox="1"/>
          <p:nvPr/>
        </p:nvSpPr>
        <p:spPr>
          <a:xfrm>
            <a:off x="3157728" y="6181344"/>
            <a:ext cx="173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merges y escrituras en datos reales se aprueban en el día</a:t>
            </a:r>
            <a:endParaRPr lang="en-US" sz="750" dirty="0"/>
          </a:p>
        </p:txBody>
      </p:sp>
      <p:sp>
        <p:nvSpPr>
          <p:cNvPr id="91" name="Shape 84"/>
          <p:cNvSpPr/>
          <p:nvPr/>
        </p:nvSpPr>
        <p:spPr>
          <a:xfrm>
            <a:off x="5044440" y="6025896"/>
            <a:ext cx="310896" cy="310896"/>
          </a:xfrm>
          <a:prstGeom prst="ellipse">
            <a:avLst/>
          </a:prstGeom>
          <a:solidFill>
            <a:srgbClr val="1B4147"/>
          </a:solidFill>
          <a:ln w="12700">
            <a:solidFill>
              <a:srgbClr val="5FD3B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2164" y="6103620"/>
            <a:ext cx="155448" cy="155448"/>
          </a:xfrm>
          <a:prstGeom prst="rect">
            <a:avLst/>
          </a:prstGeom>
        </p:spPr>
      </p:pic>
      <p:sp>
        <p:nvSpPr>
          <p:cNvPr id="93" name="Text 85"/>
          <p:cNvSpPr txBox="1"/>
          <p:nvPr/>
        </p:nvSpPr>
        <p:spPr>
          <a:xfrm>
            <a:off x="5428488" y="5998464"/>
            <a:ext cx="1731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</a:t>
            </a:r>
            <a:endParaRPr lang="en-US" sz="900" dirty="0"/>
          </a:p>
        </p:txBody>
      </p:sp>
      <p:sp>
        <p:nvSpPr>
          <p:cNvPr id="94" name="Text 86"/>
          <p:cNvSpPr txBox="1"/>
          <p:nvPr/>
        </p:nvSpPr>
        <p:spPr>
          <a:xfrm>
            <a:off x="5428488" y="6181344"/>
            <a:ext cx="173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en el dispositivo, sin servidor, sin datos personales en el repositorio</a:t>
            </a:r>
            <a:endParaRPr lang="en-US" sz="750" dirty="0"/>
          </a:p>
        </p:txBody>
      </p:sp>
      <p:sp>
        <p:nvSpPr>
          <p:cNvPr id="95" name="Shape 87"/>
          <p:cNvSpPr/>
          <p:nvPr/>
        </p:nvSpPr>
        <p:spPr>
          <a:xfrm>
            <a:off x="7452360" y="5175504"/>
            <a:ext cx="4373575" cy="1298448"/>
          </a:xfrm>
          <a:prstGeom prst="roundRect">
            <a:avLst>
              <a:gd name="adj" fmla="val 4930"/>
            </a:avLst>
          </a:prstGeom>
          <a:solidFill>
            <a:srgbClr val="16363B"/>
          </a:solidFill>
          <a:ln w="12700">
            <a:solidFill>
              <a:srgbClr val="163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6" name="Text 88"/>
          <p:cNvSpPr txBox="1"/>
          <p:nvPr/>
        </p:nvSpPr>
        <p:spPr>
          <a:xfrm>
            <a:off x="7589520" y="5248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950" dirty="0"/>
          </a:p>
        </p:txBody>
      </p:sp>
      <p:sp>
        <p:nvSpPr>
          <p:cNvPr id="97" name="Text 89"/>
          <p:cNvSpPr txBox="1"/>
          <p:nvPr/>
        </p:nvSpPr>
        <p:spPr>
          <a:xfrm>
            <a:off x="8686800" y="5248656"/>
            <a:ext cx="3001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LangGraph · 26 skills asignados por rol</a:t>
            </a:r>
            <a:endParaRPr lang="en-US" sz="800" dirty="0"/>
          </a:p>
        </p:txBody>
      </p:sp>
      <p:sp>
        <p:nvSpPr>
          <p:cNvPr id="98" name="Text 90"/>
          <p:cNvSpPr txBox="1"/>
          <p:nvPr/>
        </p:nvSpPr>
        <p:spPr>
          <a:xfrm>
            <a:off x="7589520" y="5522976"/>
            <a:ext cx="1981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· planifica, integra, no programa</a:t>
            </a:r>
            <a:endParaRPr lang="en-US" sz="800" dirty="0"/>
          </a:p>
        </p:txBody>
      </p:sp>
      <p:sp>
        <p:nvSpPr>
          <p:cNvPr id="99" name="Text 91"/>
          <p:cNvSpPr txBox="1"/>
          <p:nvPr/>
        </p:nvSpPr>
        <p:spPr>
          <a:xfrm>
            <a:off x="9707728" y="5522976"/>
            <a:ext cx="1981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 Dawn Preview</a:t>
            </a:r>
            <a:endParaRPr lang="en-US" sz="800" dirty="0"/>
          </a:p>
        </p:txBody>
      </p:sp>
      <p:sp>
        <p:nvSpPr>
          <p:cNvPr id="100" name="Text 92"/>
          <p:cNvSpPr txBox="1"/>
          <p:nvPr/>
        </p:nvSpPr>
        <p:spPr>
          <a:xfrm>
            <a:off x="7589520" y="5824728"/>
            <a:ext cx="1981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validación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DeepSeek-V4-Pro</a:t>
            </a:r>
            <a:endParaRPr lang="en-US" sz="800" dirty="0"/>
          </a:p>
        </p:txBody>
      </p:sp>
      <p:sp>
        <p:nvSpPr>
          <p:cNvPr id="101" name="Text 93"/>
          <p:cNvSpPr txBox="1"/>
          <p:nvPr/>
        </p:nvSpPr>
        <p:spPr>
          <a:xfrm>
            <a:off x="9707728" y="5824728"/>
            <a:ext cx="1981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Ninox · App móvil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DeepSeek-V4.1-Flash</a:t>
            </a:r>
            <a:endParaRPr lang="en-US" sz="800" dirty="0"/>
          </a:p>
        </p:txBody>
      </p:sp>
      <p:sp>
        <p:nvSpPr>
          <p:cNvPr id="102" name="Text 94"/>
          <p:cNvSpPr txBox="1"/>
          <p:nvPr/>
        </p:nvSpPr>
        <p:spPr>
          <a:xfrm>
            <a:off x="7589520" y="6126480"/>
            <a:ext cx="1981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(QA)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 · verifica, no programa</a:t>
            </a:r>
            <a:endParaRPr lang="en-US" sz="800" dirty="0"/>
          </a:p>
        </p:txBody>
      </p:sp>
      <p:sp>
        <p:nvSpPr>
          <p:cNvPr id="103" name="Text 95"/>
          <p:cNvSpPr txBox="1"/>
          <p:nvPr/>
        </p:nvSpPr>
        <p:spPr>
          <a:xfrm>
            <a:off x="9707728" y="6126480"/>
            <a:ext cx="1981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3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decide y aprueba en el día</a:t>
            </a:r>
            <a:endParaRPr lang="en-US" sz="800" dirty="0"/>
          </a:p>
        </p:txBody>
      </p:sp>
      <p:sp>
        <p:nvSpPr>
          <p:cNvPr id="104" name="Text 96"/>
          <p:cNvSpPr txBox="1"/>
          <p:nvPr/>
        </p:nvSpPr>
        <p:spPr>
          <a:xfrm>
            <a:off x="365760" y="6519672"/>
            <a:ext cx="114601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OpenSpec · registros vivos de huecos y decisiones · cada error, prueba y mejora queda documentada y vuelve al producto · repositorio público en GitHub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</Words>
  <Application>Microsoft Office PowerPoint</Application>
  <PresentationFormat>Panorámica</PresentationFormat>
  <Paragraphs>99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Paperdrop for Ninox — de la idea a las tiendas</dc:title>
  <dc:subject>PptxGenJS Presentation</dc:subject>
  <dc:creator>Nortex Systems</dc:creator>
  <cp:lastModifiedBy>alvaro guillen</cp:lastModifiedBy>
  <cp:revision>1</cp:revision>
  <dcterms:created xsi:type="dcterms:W3CDTF">2026-09-25T20:45:28Z</dcterms:created>
  <dcterms:modified xsi:type="dcterms:W3CDTF">2026-09-25T20:52:56Z</dcterms:modified>
</cp:coreProperties>
</file>